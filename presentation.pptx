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5029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CIE-552 · Computer Vision ·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91440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American Sign Language
Recognition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7C6AFF"/>
                </a:solidFill>
              </a:rPr>
              <a:t>Comparative Deep Learning Study  ·  Real-Time Web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D0"/>
                </a:solidFill>
              </a:rPr>
              <a:t>Ibrahim Hanafy  ·  Abdullah Ahmed  ·  Mai Ibrahim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1879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8"/>
                </a:solidFill>
              </a:rPr>
              <a:t>Supervised by Dr. Mohamed Tolba  |  TAs: Retaj Yousri · Mennah Mohamed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4937760"/>
            <a:ext cx="2560320" cy="1554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4937760"/>
            <a:ext cx="256032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5010912"/>
            <a:ext cx="256032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F"/>
                </a:solidFill>
              </a:rPr>
              <a:t>99.96%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5901537"/>
            <a:ext cx="2560320" cy="5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Best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4937760"/>
            <a:ext cx="2560320" cy="1554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0672" y="4937760"/>
            <a:ext cx="256032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90672" y="5010912"/>
            <a:ext cx="256032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B0"/>
                </a:solidFill>
              </a:rPr>
              <a:t>98.9%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5901537"/>
            <a:ext cx="2560320" cy="5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Real-World MLP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33872" y="4937760"/>
            <a:ext cx="2560320" cy="1554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33872" y="4937760"/>
            <a:ext cx="256032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5010912"/>
            <a:ext cx="256032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94D"/>
                </a:solidFill>
              </a:rPr>
              <a:t>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5901537"/>
            <a:ext cx="2560320" cy="5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Models Compared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7072" y="4937760"/>
            <a:ext cx="3246120" cy="1554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77072" y="4937760"/>
            <a:ext cx="32461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5010912"/>
            <a:ext cx="324612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6B"/>
                </a:solidFill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5901537"/>
            <a:ext cx="3246120" cy="5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Web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30-minute presentation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4864" cy="111556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57784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408176"/>
            <a:ext cx="566928" cy="59436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463039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6276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54864" cy="111556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98448"/>
            <a:ext cx="557784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27648" y="1408176"/>
            <a:ext cx="566928" cy="594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1463039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16276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96896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596896"/>
            <a:ext cx="54864" cy="111556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596896"/>
            <a:ext cx="557784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2706624"/>
            <a:ext cx="566928" cy="59436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7614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9260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5 Core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96896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2596896"/>
            <a:ext cx="54864" cy="1115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596896"/>
            <a:ext cx="5577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27648" y="2706624"/>
            <a:ext cx="566928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27614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9260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Training Curves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95344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3895344"/>
            <a:ext cx="54864" cy="111556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3895344"/>
            <a:ext cx="557784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84048" y="4005072"/>
            <a:ext cx="566928" cy="59436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4059935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224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Results &amp; Confusion Matrices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95344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3895344"/>
            <a:ext cx="54864" cy="111556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3895344"/>
            <a:ext cx="557784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27648" y="4005072"/>
            <a:ext cx="566928" cy="594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4059935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224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Bonus: Landmarks + Web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93792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5193792"/>
            <a:ext cx="54864" cy="111556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5193792"/>
            <a:ext cx="557784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84048" y="5303520"/>
            <a:ext cx="566928" cy="59436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5358383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5522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Challenges We Faced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193792"/>
            <a:ext cx="5577840" cy="11155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5193792"/>
            <a:ext cx="54864" cy="1115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193792"/>
            <a:ext cx="5577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27648" y="5303520"/>
            <a:ext cx="566928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27648" y="5358383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0912"/>
                </a:solidFill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5522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Live Demo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Why automated ASL recognition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11722608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64008" cy="9144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70 million+ deaf and hard-of-hearing people worldwide rely on sign language as their primary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Automated recognition → real-time translation, assistive devices, educational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423160"/>
            <a:ext cx="2816352" cy="21031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2423160"/>
            <a:ext cx="2816352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423160"/>
            <a:ext cx="54864" cy="210312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F"/>
                </a:solidFill>
              </a:rPr>
              <a:t>Domain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98648"/>
            <a:ext cx="2633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Dataset ≠ webcam.
Perfect benchmark score ≠ working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423160"/>
            <a:ext cx="2816352" cy="21031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423160"/>
            <a:ext cx="2816352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2423160"/>
            <a:ext cx="54864" cy="210312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</a:rP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898648"/>
            <a:ext cx="2633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Must run live video smoothly.
No buffering or lag tolerated.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423160"/>
            <a:ext cx="2816352" cy="21031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423160"/>
            <a:ext cx="2816352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423160"/>
            <a:ext cx="54864" cy="210312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</a:rPr>
              <a:t>Robustness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898648"/>
            <a:ext cx="2633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Varied lighting, backgrounds,
skin tones, hand sizes.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423160"/>
            <a:ext cx="2816352" cy="21031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2423160"/>
            <a:ext cx="28163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242316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60" y="251460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98648"/>
            <a:ext cx="2633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Local model ≠ accessible.
Must work from any browser.</a:t>
            </a:r>
          </a:p>
        </p:txBody>
      </p:sp>
      <p:pic>
        <p:nvPicPr>
          <p:cNvPr id="30" name="Picture 29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663440"/>
            <a:ext cx="11722608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— Sign Language MNIST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61872"/>
            <a:ext cx="2560320" cy="12344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256032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2560320" cy="7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F"/>
                </a:solidFill>
              </a:rPr>
              <a:t>27,455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027224"/>
            <a:ext cx="2560320" cy="41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Training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261872"/>
            <a:ext cx="2560320" cy="12344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261872"/>
            <a:ext cx="256032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335024"/>
            <a:ext cx="2560320" cy="7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B0"/>
                </a:solidFill>
              </a:rPr>
              <a:t>7,172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027224"/>
            <a:ext cx="2560320" cy="41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Test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261872"/>
            <a:ext cx="2560320" cy="12344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0" y="1261872"/>
            <a:ext cx="256032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0" y="1335024"/>
            <a:ext cx="2560320" cy="7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94D"/>
                </a:solidFill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027224"/>
            <a:ext cx="2560320" cy="41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Classes (A–Y, no J/Z)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261872"/>
            <a:ext cx="3474720" cy="123444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1261872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335024"/>
            <a:ext cx="3474720" cy="715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6B"/>
                </a:solidFill>
              </a:rPr>
              <a:t>28×28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027224"/>
            <a:ext cx="3474720" cy="41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Grayscale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651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30175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Drop-in MNIST replacement — same format and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3383279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J and Z excluded (require motion, not static)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749039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Tightly cropped, background-free, uniform lighting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1148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Labels 0–25, indices 9 and 25 absent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4805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Pixels normalised from [0,255] to float32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846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The catch: looks nothing like a real webcam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51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</a:rPr>
              <a:t>Misclassification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175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True label: S  —  CNN predicted incorrectly
Illustrates domain gap: even 99%+ models fail on edge cases</a:t>
            </a:r>
          </a:p>
        </p:txBody>
      </p:sp>
      <p:pic>
        <p:nvPicPr>
          <p:cNvPr id="30" name="Picture 29" descr="sample_1314_true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49039"/>
            <a:ext cx="53035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Methodology — 5 Pipelines + 4 Bonus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5532120" cy="76809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98448"/>
            <a:ext cx="64008" cy="768096"/>
          </a:xfrm>
          <a:prstGeom prst="rect">
            <a:avLst/>
          </a:prstGeom>
          <a:solidFill>
            <a:srgbClr val="B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12064" cy="310896"/>
          </a:xfrm>
          <a:prstGeom prst="rect">
            <a:avLst/>
          </a:prstGeom>
          <a:solidFill>
            <a:srgbClr val="101426"/>
          </a:solidFill>
          <a:ln>
            <a:solidFill>
              <a:srgbClr val="B0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D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B8D0"/>
                </a:solidFill>
              </a:rPr>
              <a:t>Custom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1907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Baseline — 6-layer conv net, Adam, 30 epochs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76272"/>
            <a:ext cx="5532120" cy="76809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176272"/>
            <a:ext cx="64008" cy="76809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267712"/>
            <a:ext cx="512064" cy="310896"/>
          </a:xfrm>
          <a:prstGeom prst="rect">
            <a:avLst/>
          </a:prstGeom>
          <a:solidFill>
            <a:srgbClr val="101426"/>
          </a:solidFill>
          <a:ln>
            <a:solidFill>
              <a:srgbClr val="00E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0428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49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B0"/>
                </a:solidFill>
              </a:rPr>
              <a:t>CNN + Augment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9689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Same arch + RandomBrightness/Zoom/Rotation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54096"/>
            <a:ext cx="5532120" cy="76809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3054096"/>
            <a:ext cx="64008" cy="768096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145536"/>
            <a:ext cx="512064" cy="310896"/>
          </a:xfrm>
          <a:prstGeom prst="rect">
            <a:avLst/>
          </a:prstGeom>
          <a:solidFill>
            <a:srgbClr val="101426"/>
          </a:solidFill>
          <a:ln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182112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94D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94D"/>
                </a:solidFill>
              </a:rPr>
              <a:t>SVM + HOG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47472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Classical: 576-dim HOG features + RBF-SVM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931920"/>
            <a:ext cx="5532120" cy="76809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3931920"/>
            <a:ext cx="64008" cy="7680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4023359"/>
            <a:ext cx="512064" cy="310896"/>
          </a:xfrm>
          <a:prstGeom prst="rect">
            <a:avLst/>
          </a:prstGeom>
          <a:solidFill>
            <a:srgbClr val="101426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059935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MobileNetV2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35254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Frozen ImageNet backbone + dense head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809744"/>
            <a:ext cx="5532120" cy="76809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4809744"/>
            <a:ext cx="64008" cy="76809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4901183"/>
            <a:ext cx="512064" cy="310896"/>
          </a:xfrm>
          <a:prstGeom prst="rect">
            <a:avLst/>
          </a:prstGeom>
          <a:solidFill>
            <a:srgbClr val="101426"/>
          </a:solidFill>
          <a:ln>
            <a:solidFill>
              <a:srgbClr val="7C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37759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82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F"/>
                </a:solidFill>
              </a:rPr>
              <a:t>EfficientNetB0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3036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Head-only AND full fine-tune (best result)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2618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Bonus Contributions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719072"/>
            <a:ext cx="544068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1719072"/>
            <a:ext cx="5440680" cy="6400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1719072"/>
            <a:ext cx="64008" cy="9144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53912" y="1856231"/>
            <a:ext cx="548640" cy="59436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53912" y="19019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0912"/>
                </a:solidFill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1975104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Robust Augmented CNN → TFLite export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816352"/>
            <a:ext cx="544068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35040" y="2816352"/>
            <a:ext cx="544068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35040" y="2816352"/>
            <a:ext cx="64008" cy="9144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53912" y="2953512"/>
            <a:ext cx="548640" cy="594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53912" y="29992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0912"/>
                </a:solidFill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072384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MediaPipe Landmarks + MLP  (98.9%)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913631"/>
            <a:ext cx="544068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35040" y="3913631"/>
            <a:ext cx="5440680" cy="6400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035040" y="3913631"/>
            <a:ext cx="64008" cy="9144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53912" y="4050791"/>
            <a:ext cx="548640" cy="59436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53912" y="409651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0912"/>
                </a:solidFill>
              </a:rPr>
              <a:t>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169663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TFLite Quantisation + Optimisation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5010912"/>
            <a:ext cx="544068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035040" y="5010912"/>
            <a:ext cx="544068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035040" y="5010912"/>
            <a:ext cx="64008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53912" y="5148072"/>
            <a:ext cx="548640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53912" y="51937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0912"/>
                </a:solidFill>
              </a:rP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5266944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FastAPI + Docker + HF Spaces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Training Curves — CNN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Baseline vs 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B8D0"/>
                </a:solidFill>
              </a:rPr>
              <a:t>Custom CNN (Baseline)</a:t>
            </a:r>
          </a:p>
        </p:txBody>
      </p:sp>
      <p:pic>
        <p:nvPicPr>
          <p:cNvPr id="7" name="Picture 6" descr="curves_custom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27632"/>
            <a:ext cx="56692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B0"/>
                </a:solidFill>
              </a:rPr>
              <a:t>CNN + Data Augmentation</a:t>
            </a:r>
          </a:p>
        </p:txBody>
      </p:sp>
      <p:pic>
        <p:nvPicPr>
          <p:cNvPr id="9" name="Picture 8" descr="curves_cnn_augmen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27632"/>
            <a:ext cx="5760720" cy="4297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6108192"/>
            <a:ext cx="11704320" cy="53035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14476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Augmentation reduces overfitting — validation loss stays closer to training loss, generalisation improves.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Training Curves —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EfficientNetB0 head-only vs fine-tuned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B8D0"/>
                </a:solidFill>
              </a:rPr>
              <a:t>EfficientNetB0 — Head Only</a:t>
            </a:r>
          </a:p>
        </p:txBody>
      </p:sp>
      <p:pic>
        <p:nvPicPr>
          <p:cNvPr id="7" name="Picture 6" descr="curves_efficientnetb0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27632"/>
            <a:ext cx="566928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94D"/>
                </a:solidFill>
              </a:rPr>
              <a:t>EfficientNetB0 — Fine-Tuned  ★ Best Model</a:t>
            </a:r>
          </a:p>
        </p:txBody>
      </p:sp>
      <p:pic>
        <p:nvPicPr>
          <p:cNvPr id="9" name="Picture 8" descr="curves_efficientnetb0_fine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27632"/>
            <a:ext cx="57607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5029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MobileNetV2 — Head Only</a:t>
            </a:r>
          </a:p>
        </p:txBody>
      </p:sp>
      <p:pic>
        <p:nvPicPr>
          <p:cNvPr id="11" name="Picture 10" descr="curves_mobilenetv2_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376672"/>
            <a:ext cx="5669280" cy="1234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0" y="5029200"/>
            <a:ext cx="5760720" cy="160934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5029200"/>
            <a:ext cx="576072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512064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Fine-tuning insight: full unfreeze with low lr (1e-4) pushes
EfficientNetB0 from 99.50% → 99.96%.
Head-only training converges faster but plateaus earlier.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Sign Language MNIST test set (7,172 samples)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ar_acc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1261872"/>
            <a:ext cx="2377440" cy="32918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04119" y="1261872"/>
            <a:ext cx="914400" cy="32918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18519" y="1261872"/>
            <a:ext cx="914400" cy="32918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591056"/>
            <a:ext cx="237744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A94D"/>
                </a:solidFill>
              </a:rPr>
              <a:t>EfficientNetB0 FT 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4119" y="1591056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A94D"/>
                </a:solidFill>
              </a:rPr>
              <a:t>99.96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18519" y="1591056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A94D"/>
                </a:solidFill>
              </a:rPr>
              <a:t>99.96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947672"/>
            <a:ext cx="237744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EfficientNetB0 Head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19" y="1947672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19" y="1947672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99.49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304288"/>
            <a:ext cx="237744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CNN + Augment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19" y="2304288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99.04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18519" y="2304288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99.10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660904"/>
            <a:ext cx="237744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MobileNetV2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19" y="2660904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98.66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19" y="2660904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98.44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017520"/>
            <a:ext cx="237744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SVM + HOG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19" y="3017520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97.09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18519" y="3017520"/>
            <a:ext cx="914400" cy="329184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96.67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3374136"/>
            <a:ext cx="237744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Custom CNN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19" y="3374136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95.98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18519" y="3374136"/>
            <a:ext cx="914400" cy="329184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95.69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5532120"/>
            <a:ext cx="1170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Key insight: fine-tuning beats head-only (+0.46%). SVM+HOG (97%) beats
baseline CNN (95.98%) — strong classical baseline worth noting.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Performance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Multi-metric view across all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5669280" cy="5212080"/>
          </a:xfrm>
          <a:prstGeom prst="rect">
            <a:avLst/>
          </a:prstGeom>
        </p:spPr>
      </p:pic>
      <p:pic>
        <p:nvPicPr>
          <p:cNvPr id="7" name="Picture 6" descr="bar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61872"/>
            <a:ext cx="5943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Confusion Matrices — Best vs Worst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Near-perfect vs inter-class confusion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94D"/>
                </a:solidFill>
              </a:rPr>
              <a:t>EfficientNetB0 Fine-Tuned  (99.96%)</a:t>
            </a:r>
          </a:p>
        </p:txBody>
      </p:sp>
      <p:pic>
        <p:nvPicPr>
          <p:cNvPr id="7" name="Picture 6" descr="cm_EfficientNetB0_fine-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0"/>
            <a:ext cx="566928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B8D0"/>
                </a:solidFill>
              </a:rPr>
              <a:t>Custom CNN Baseline  (95.98%)</a:t>
            </a:r>
          </a:p>
        </p:txBody>
      </p:sp>
      <p:pic>
        <p:nvPicPr>
          <p:cNvPr id="9" name="Picture 8" descr="cm_Custom_C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806440" cy="4663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8600" y="6382512"/>
            <a:ext cx="11704320" cy="34747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4190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Custom CNN: M/N and U/V most confused. Fine-tuned EfficientNetB0: near-zero off-diagonal.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All 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Side-by-side comparison of all 6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m_Custom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3657600" cy="2542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1261872"/>
            <a:ext cx="3657600" cy="54864"/>
          </a:xfrm>
          <a:prstGeom prst="rect">
            <a:avLst/>
          </a:prstGeom>
          <a:solidFill>
            <a:srgbClr val="B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3258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0"/>
                </a:solidFill>
              </a:rPr>
              <a:t>Custom CNN
95.98%</a:t>
            </a:r>
          </a:p>
        </p:txBody>
      </p:sp>
      <p:pic>
        <p:nvPicPr>
          <p:cNvPr id="9" name="Picture 8" descr="cm_SVM_plus_H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1261872"/>
            <a:ext cx="3657600" cy="25420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087368" y="1261872"/>
            <a:ext cx="3657600" cy="54864"/>
          </a:xfrm>
          <a:prstGeom prst="rect">
            <a:avLst/>
          </a:prstGeom>
          <a:solidFill>
            <a:srgbClr val="B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3087" y="13258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0"/>
                </a:solidFill>
              </a:rPr>
              <a:t>SVM + HOG
97.09%</a:t>
            </a:r>
          </a:p>
        </p:txBody>
      </p:sp>
      <p:pic>
        <p:nvPicPr>
          <p:cNvPr id="12" name="Picture 11" descr="cm_MobileNetV2_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1261872"/>
            <a:ext cx="3657600" cy="254203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991856" y="1261872"/>
            <a:ext cx="3657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132588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MobileNetV2 Head
98.66%</a:t>
            </a:r>
          </a:p>
        </p:txBody>
      </p:sp>
      <p:pic>
        <p:nvPicPr>
          <p:cNvPr id="15" name="Picture 14" descr="cm_CNN_plus_Augmen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041648"/>
            <a:ext cx="3657600" cy="25420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82880" y="4041648"/>
            <a:ext cx="365760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410565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B0"/>
                </a:solidFill>
              </a:rPr>
              <a:t>CNN + Augment
99.04%</a:t>
            </a:r>
          </a:p>
        </p:txBody>
      </p:sp>
      <p:pic>
        <p:nvPicPr>
          <p:cNvPr id="18" name="Picture 17" descr="cm_EfficientNetB0_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368" y="4041648"/>
            <a:ext cx="3657600" cy="25420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087368" y="4041648"/>
            <a:ext cx="365760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410565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AFF"/>
                </a:solidFill>
              </a:rPr>
              <a:t>EfficientNetB0 Head
99.50%</a:t>
            </a:r>
          </a:p>
        </p:txBody>
      </p:sp>
      <p:pic>
        <p:nvPicPr>
          <p:cNvPr id="21" name="Picture 20" descr="cm_EfficientNetB0_fine-tun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4041648"/>
            <a:ext cx="3657600" cy="25420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991856" y="4041648"/>
            <a:ext cx="365760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7576" y="410565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94D"/>
                </a:solidFill>
              </a:rPr>
              <a:t>EfficientNetB0 FT ★
99.96%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Bonus B — MediaPipe Landmarks +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Appearance-invariant real-time recognition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71323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38862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B0"/>
                </a:solidFill>
              </a:rPr>
              <a:t>Why landmarks beat 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251960"/>
            <a:ext cx="7040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Pixels vary: lighting · background · skin tone ·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636008"/>
            <a:ext cx="7040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Landmarks capture only hand SHAPE — none of above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5020056"/>
            <a:ext cx="7040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Normalise: wrist → origin, scale by wrist→MCP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5404104"/>
            <a:ext cx="7040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63-dim vector → StandardScaler → MLPClassifier (256,128)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261872"/>
            <a:ext cx="4297680" cy="14173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261872"/>
            <a:ext cx="429768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335024"/>
            <a:ext cx="429768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B0"/>
                </a:solidFill>
              </a:rPr>
              <a:t>98.9%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40610"/>
            <a:ext cx="4297680" cy="48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Real Webcam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816352"/>
            <a:ext cx="4297680" cy="14173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816352"/>
            <a:ext cx="429768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889504"/>
            <a:ext cx="429768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F"/>
                </a:solidFill>
              </a:rPr>
              <a:t>~5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95090"/>
            <a:ext cx="4297680" cy="48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Per-frame CPU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370832"/>
            <a:ext cx="4297680" cy="14173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370832"/>
            <a:ext cx="429768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4443984"/>
            <a:ext cx="429768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94D"/>
                </a:solidFill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249570"/>
            <a:ext cx="4297680" cy="48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Hand Keypoints (3D)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5925312"/>
            <a:ext cx="4297680" cy="71323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89520" y="5925312"/>
            <a:ext cx="42976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5998464"/>
            <a:ext cx="4297680" cy="413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6B"/>
                </a:solidFill>
              </a:rPr>
              <a:t>63-dim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6367515"/>
            <a:ext cx="4297680" cy="24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Feature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62179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8D0"/>
                </a:solidFill>
              </a:rPr>
              <a:t>optionB.pkl = {mlp, scaler, classes}  — loaded with joblib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Bonus A &amp; C — Robust CNN + Optimisation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61872"/>
            <a:ext cx="5577840" cy="52120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5577840" cy="6400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64008" cy="521208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6AFF"/>
                </a:solidFill>
              </a:rPr>
              <a:t>Bonus A — Augmented CNN → TFLite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Heavier augmentation than core model: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9424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  · RandomBrightness(0.15, value_range=(0,1))  ←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70048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  · RandomContrast · RandomZoom · RandomRotation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2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  · tf.clip_by_value(img, 0.0, 1.0)  post-augment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11296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Exported to TFLite (.tflite) — 2ms/frame on 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31920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Int8 quantisation → 4× size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52544"/>
            <a:ext cx="5257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Runs on Raspberry Pi, Android, edge devices</a:t>
            </a:r>
          </a:p>
        </p:txBody>
      </p:sp>
      <p:pic>
        <p:nvPicPr>
          <p:cNvPr id="16" name="Picture 15" descr="curves_cnn_au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36592"/>
            <a:ext cx="5212080" cy="157276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989320" y="1261872"/>
            <a:ext cx="5897880" cy="52120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1261872"/>
            <a:ext cx="5897880" cy="6400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1261872"/>
            <a:ext cx="64008" cy="521208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35331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94D"/>
                </a:solidFill>
              </a:rPr>
              <a:t>Bonus C — Model Optimisation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828800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Post-training quantisation strategies: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249424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  · Float32 → Int8 full quantisation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70048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  · Dynamic-range quantisation (lighter option)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90672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Float32 model → ~4MB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511296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Int8 quantised  → ~1MB  (4× smaller)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931920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Accuracy loss  &lt; 0.1%  after quantisation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352544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Enables browser/mobile/Pi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73168"/>
            <a:ext cx="5577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Analysed speed vs. accuracy trade-off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736592"/>
            <a:ext cx="2560320" cy="15727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4736592"/>
            <a:ext cx="256032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4809744"/>
            <a:ext cx="2560320" cy="91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94D"/>
                </a:solidFill>
              </a:rPr>
              <a:t>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711708"/>
            <a:ext cx="2560320" cy="53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Size Reduction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4736592"/>
            <a:ext cx="2560320" cy="157276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5400" y="4736592"/>
            <a:ext cx="256032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15400" y="4809744"/>
            <a:ext cx="2560320" cy="91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B0"/>
                </a:solidFill>
              </a:rPr>
              <a:t>&lt;0.1%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711708"/>
            <a:ext cx="2560320" cy="53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Accuracy 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Bonus D — FastAPI Web Application + Docker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61872"/>
            <a:ext cx="5394960" cy="3840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539496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F"/>
                </a:solidFill>
              </a:rPr>
              <a:t>Upload Tab — CNN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411480" cy="47548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9280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912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User uploads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411480" cy="47548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62432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912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Server: PIL → grayscale → 28×28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411480" cy="47548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3558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912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TFLite CNN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411480" cy="47548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0873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912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Top-5 predictions + bars returned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261872"/>
            <a:ext cx="6035040" cy="38404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7880" y="1261872"/>
            <a:ext cx="603504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3533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B0"/>
                </a:solidFill>
              </a:rPr>
              <a:t>Live Webcam Tab — MediaPipe + MLP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411480" cy="438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1883664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912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892807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Browser streams JPEG frames over WebSocket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414016"/>
            <a:ext cx="411480" cy="438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468880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912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780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Server: MediaPipe → 21 landmarks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999232"/>
            <a:ext cx="411480" cy="438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0" y="3054096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912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632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MLP classifies 63-dim feature vector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84448"/>
            <a:ext cx="411480" cy="438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639312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912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6484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Server returns: letter, bbox, 21 coords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169664"/>
            <a:ext cx="411480" cy="4389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422452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91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336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Browser draws skeleton overlay on canvas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230368"/>
            <a:ext cx="11704320" cy="140817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8600" y="5230368"/>
            <a:ext cx="11704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53218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Docker  →  python:3.11-slim  |  libgl1 · libgles2 · libegl1  |  EXPOSE 7860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Hugging Face Spaces — free Docker hosting, 16GB RAM, CPU 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394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6AFF"/>
                </a:solidFill>
              </a:rPr>
              <a:t>🌐  ibrahimhanafy2222-vision-project.hf.space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Challenges We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Real engineering problems — documented with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98448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98448"/>
            <a:ext cx="64008" cy="159105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298448"/>
            <a:ext cx="576072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4081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F"/>
                </a:solidFill>
              </a:rPr>
              <a:t>.keras + Lambda Serialisation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801368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Lambda layers can't be JSON-serialised → TypeError on save.
Fix: replaced with explicit subclassed Keras Layer objects.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64008" cy="159105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576072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081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</a:rPr>
              <a:t>RandomBrightness value_range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Default range (0,255) adds ±38 to [0,1] images → all-black samples.
Fix: value_range=(0,1) + tf.clip_by_value after augment.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054096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3054096"/>
            <a:ext cx="64008" cy="1591056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3054096"/>
            <a:ext cx="576072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31638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94D"/>
                </a:solidFill>
              </a:rPr>
              <a:t>HF Spaces: LFS → Xet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557015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git push rejected for .tflite/.task — LFS also blocked at hook.
Fix: hf upload CLI — uses Xet storage transparently.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54096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54096"/>
            <a:ext cx="64008" cy="159105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054096"/>
            <a:ext cx="5760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1638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Missing Docker System Libraries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557015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libgl1-mesa-glx removed in Debian trixie. libGLESv2.so.2 missing.
Fix: libgl1 + libgles2 + libegl1 in Dockerfile.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809744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4809744"/>
            <a:ext cx="64008" cy="159105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4809744"/>
            <a:ext cx="576072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" y="4919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F"/>
                </a:solidFill>
              </a:rPr>
              <a:t>Starlette TemplateResponse API Break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5312664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request must be keyword arg not in context dict in new Starlette.
Caused TypeError: unhashable type 'dict' inside Jinja2.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809744"/>
            <a:ext cx="5760720" cy="1591056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809744"/>
            <a:ext cx="64008" cy="159105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809744"/>
            <a:ext cx="576072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4919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</a:rPr>
              <a:t>scikit-learn Version Mismatch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312664"/>
            <a:ext cx="5532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pkl saved with 1.6.1 (Colab), Docker installed 1.8.0.
Fix: pin scikit-learn==1.6.1 in requirements.txt.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61872"/>
            <a:ext cx="11722608" cy="521208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11722608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6AFF"/>
                </a:solidFill>
              </a:rPr>
              <a:t>https://ibrahimhanafy2222-vision-project.hf.space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91840"/>
            <a:ext cx="4114800" cy="1463040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411480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AFF"/>
                </a:solidFill>
              </a:rPr>
              <a:t>Upload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Pick any ASL letter photo
→ see top-5 predictions with
confidence bars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291840"/>
            <a:ext cx="4114800" cy="1463040"/>
          </a:xfrm>
          <a:prstGeom prst="rect">
            <a:avLst/>
          </a:prstGeom>
          <a:solidFill>
            <a:srgbClr val="10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3291840"/>
            <a:ext cx="411480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383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0"/>
                </a:solidFill>
              </a:rPr>
              <a:t>Live Webcam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49039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Show a hand sign to camera
→ real-time skeleton overlay
+ letter +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822191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94D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66"/>
                </a:solidFill>
              </a:rPr>
              <a:t>If the live site is unavailable, we will show a recorded screen capture.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15568"/>
            <a:ext cx="11704320" cy="36576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298448"/>
            <a:ext cx="64008" cy="56692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EfficientNetB0 fine-tuned → 99.96% on Sign MNIST — best benchmark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029967"/>
            <a:ext cx="64008" cy="56692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Benchmark accuracy ≠ real-world — domain gap is real and significant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761488"/>
            <a:ext cx="64008" cy="566928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Landmark MLP (98.9%) outperforms all pixel models on live webcam 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493008"/>
            <a:ext cx="64008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8444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TFLite + quantisation → 4× smaller model, &lt;2ms/frame, edge-deployable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224528"/>
            <a:ext cx="64008" cy="566928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Complete Docker + HF Spaces deployment — live and publicly accessible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956048"/>
            <a:ext cx="64008" cy="56692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4748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6 non-trivial engineering challenges documented with root-cause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870448"/>
            <a:ext cx="11722608" cy="749808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5870448"/>
            <a:ext cx="11722608" cy="45720"/>
          </a:xfrm>
          <a:prstGeom prst="rect">
            <a:avLst/>
          </a:prstGeom>
          <a:solidFill>
            <a:srgbClr val="B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596188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8D0"/>
                </a:solidFill>
              </a:rPr>
              <a:t>Future work: dynamic signs (J,Z) · word-level ASL · real-world training data · mobile 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457200"/>
            <a:ext cx="7315200" cy="5943600"/>
          </a:xfrm>
          <a:prstGeom prst="rect">
            <a:avLst/>
          </a:prstGeom>
          <a:solidFill>
            <a:srgbClr val="0C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3716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926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7C6AFF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D0"/>
                </a:solidFill>
              </a:rPr>
              <a:t>Ibrahim Hanafy · Abdullah Ahmed · Mai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68"/>
                </a:solidFill>
              </a:rPr>
              <a:t>CIE-552 Computer Vision · Zewail City ·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5166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B0"/>
                </a:solidFill>
              </a:rPr>
              <a:t>ibrahimhanafy2222-vision-project.hf.space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715000"/>
            <a:ext cx="22860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5715000"/>
            <a:ext cx="2286000" cy="54864"/>
          </a:xfrm>
          <a:prstGeom prst="rect">
            <a:avLst/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78815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F"/>
                </a:solidFill>
              </a:rPr>
              <a:t>99.96%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2819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Best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5715000"/>
            <a:ext cx="22860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5715000"/>
            <a:ext cx="2286000" cy="54864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578815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B0"/>
                </a:solidFill>
              </a:rP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62819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Real-World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5715000"/>
            <a:ext cx="2286000" cy="9144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22860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578815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6B"/>
                </a:solidFill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28192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Deployed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1392</Words>
  <Application>Microsoft Office PowerPoint</Application>
  <PresentationFormat>Custom</PresentationFormat>
  <Paragraphs>239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Hany Ibrahim Eldosoky Ahmed Hanafy</cp:lastModifiedBy>
  <cp:revision>2</cp:revision>
  <dcterms:created xsi:type="dcterms:W3CDTF">2013-01-27T09:14:16Z</dcterms:created>
  <dcterms:modified xsi:type="dcterms:W3CDTF">2026-05-15T22:31:55Z</dcterms:modified>
  <cp:category/>
</cp:coreProperties>
</file>